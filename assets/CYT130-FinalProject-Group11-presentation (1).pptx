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73" r:id="rId8"/>
    <p:sldId id="261" r:id="rId9"/>
    <p:sldId id="262" r:id="rId10"/>
    <p:sldId id="263" r:id="rId11"/>
    <p:sldId id="268" r:id="rId12"/>
    <p:sldId id="269" r:id="rId13"/>
    <p:sldId id="264" r:id="rId14"/>
    <p:sldId id="265" r:id="rId15"/>
    <p:sldId id="272" r:id="rId16"/>
    <p:sldId id="266" r:id="rId17"/>
    <p:sldId id="270" r:id="rId18"/>
    <p:sldId id="271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80455"/>
  </p:normalViewPr>
  <p:slideViewPr>
    <p:cSldViewPr snapToGrid="0">
      <p:cViewPr varScale="1">
        <p:scale>
          <a:sx n="121" d="100"/>
          <a:sy n="121" d="100"/>
        </p:scale>
        <p:origin x="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94E8B-EC15-4CF5-928D-0F8121E72FEB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61C386-D3D7-40EC-B837-6263B0B9A0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9921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My name is Eric Rennan and this presentation covers two critical vulnerabilities identified during our penetration testing project: SQL Injection in DVWA and the </a:t>
            </a:r>
            <a:r>
              <a:rPr lang="en-US" dirty="0" err="1"/>
              <a:t>vsftpd</a:t>
            </a:r>
            <a:r>
              <a:rPr lang="en-US" dirty="0"/>
              <a:t> 2.3.4 backdoor. We will explain how each vulnerability works, how it was exploited, and how it can be mitigated. I will present the first exploitation and follow by Khang Le.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0506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Injection is a vulnerability that occurs when a web application directly includes user input in SQL queries without proper validation. This allows attackers to inject malicious SQL code into the database.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514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target is the SQL Injection module within DVWA. The vulnerable parameter is the id field, which is passed through a GET request and directly processed by the backend database.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0929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identified the vulnerability by manually entering a single quotation mark into the input field. The application returned an SQL error, confirming that user input was not being properly sanitized.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9769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a UNION-based SQL injection payload, we were able to extract sensitive database information. This confirms that arbitrary SQL commands can be executed through the vulnerable parameter.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5605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impact of SQL Injection includes data theft, data modification, and authentication bypass. Because exploitation is simple and the impact is severe, this vulnerability is rated as high risk.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5123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mitigate SQL Injection, developers should use prepared statements, validate all user input, restrict database privileges, and avoid exposing detailed error messages.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1515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vsftpd</a:t>
            </a:r>
            <a:r>
              <a:rPr lang="en-US" dirty="0"/>
              <a:t> 2.3.4 vulnerability is not a misconfiguration but a malicious backdoor built into the service, allowing attackers to gain root access without authentication.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9142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enumeration, we used Nmap to identify running services. The scan revealed the presence of </a:t>
            </a:r>
            <a:r>
              <a:rPr lang="en-US" dirty="0" err="1"/>
              <a:t>vsftpd</a:t>
            </a:r>
            <a:r>
              <a:rPr lang="en-US" dirty="0"/>
              <a:t> version 2.3.4, which is a known backdoored FTP service.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5420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backdoor is triggered by submitting a username containing a smiley face. Although the login fails, it silently activates a hidden root shell.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0844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triggering the backdoor, we connected to port 6200 using </a:t>
            </a:r>
            <a:r>
              <a:rPr lang="en-US" dirty="0" err="1"/>
              <a:t>Netcat</a:t>
            </a:r>
            <a:r>
              <a:rPr lang="en-US" dirty="0"/>
              <a:t>. Running the id command confirmed that we gained root access.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6094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vulnerability allows complete system takeover with no authentication. Because of its severity and ease of exploitation, it is classified as critical.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3272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mitigate this issue, the vulnerable FTP service must be removed or replaced with secure alternatives, and access to FTP ports should be restricted.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1546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SQL Injection affects application-level security, while the </a:t>
            </a:r>
            <a:r>
              <a:rPr lang="en-US" dirty="0" err="1"/>
              <a:t>vsftpd</a:t>
            </a:r>
            <a:r>
              <a:rPr lang="en-US" dirty="0"/>
              <a:t> backdoor results in total system compromise. These findings emphasize the importance of secure coding and proper patch management.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1C386-D3D7-40EC-B837-6263B0B9A06C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1791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84120" y="1555560"/>
            <a:ext cx="6575760" cy="135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7;p13"/>
          <p:cNvSpPr/>
          <p:nvPr/>
        </p:nvSpPr>
        <p:spPr>
          <a:xfrm>
            <a:off x="228600" y="136080"/>
            <a:ext cx="3499920" cy="4871520"/>
          </a:xfrm>
          <a:prstGeom prst="roundRect">
            <a:avLst>
              <a:gd name="adj" fmla="val 8403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48;p13"/>
          <p:cNvSpPr/>
          <p:nvPr/>
        </p:nvSpPr>
        <p:spPr>
          <a:xfrm>
            <a:off x="383400" y="379080"/>
            <a:ext cx="3191760" cy="27144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979440" y="228600"/>
            <a:ext cx="44442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228600" y="9208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228600" y="14277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228600" y="19346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228600" y="244152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228600" y="294840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228600" y="34552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228600" y="39621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228600" y="44690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74;p13"/>
          <p:cNvSpPr/>
          <p:nvPr/>
        </p:nvSpPr>
        <p:spPr>
          <a:xfrm>
            <a:off x="3805200" y="136080"/>
            <a:ext cx="5202360" cy="4871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6;p14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0000" y="4561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0;p1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89;p16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347920" y="830160"/>
            <a:ext cx="44478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Google Shape;106;p17"/>
          <p:cNvSpPr/>
          <p:nvPr/>
        </p:nvSpPr>
        <p:spPr>
          <a:xfrm>
            <a:off x="435600" y="3666960"/>
            <a:ext cx="8272440" cy="1044360"/>
          </a:xfrm>
          <a:prstGeom prst="roundRect">
            <a:avLst>
              <a:gd name="adj" fmla="val 17679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Google Shape;107;p17"/>
          <p:cNvSpPr/>
          <p:nvPr/>
        </p:nvSpPr>
        <p:spPr>
          <a:xfrm>
            <a:off x="2099160" y="371016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Funnel Sans"/>
                <a:ea typeface="Funnel Sans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  <a:hlinkClick r:id="rId3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Google Shape;108;p17"/>
          <p:cNvSpPr/>
          <p:nvPr/>
        </p:nvSpPr>
        <p:spPr>
          <a:xfrm>
            <a:off x="435600" y="557640"/>
            <a:ext cx="8272440" cy="2968920"/>
          </a:xfrm>
          <a:prstGeom prst="roundRect">
            <a:avLst>
              <a:gd name="adj" fmla="val 7654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10;p18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12;p19"/>
          <p:cNvSpPr/>
          <p:nvPr/>
        </p:nvSpPr>
        <p:spPr>
          <a:xfrm rot="5400000">
            <a:off x="4471200" y="532800"/>
            <a:ext cx="201600" cy="86281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9080" y="1719360"/>
            <a:ext cx="6339960" cy="212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469080" y="487080"/>
            <a:ext cx="11822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2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9;p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Google Shape;25;p5"/>
          <p:cNvSpPr/>
          <p:nvPr/>
        </p:nvSpPr>
        <p:spPr>
          <a:xfrm rot="5400000">
            <a:off x="4492080" y="429840"/>
            <a:ext cx="222480" cy="89694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Google Shape;28;p6"/>
          <p:cNvSpPr/>
          <p:nvPr/>
        </p:nvSpPr>
        <p:spPr>
          <a:xfrm>
            <a:off x="136080" y="132480"/>
            <a:ext cx="8871840" cy="4952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0;p7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133280" y="1896480"/>
            <a:ext cx="6876720" cy="120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28600" y="601920"/>
            <a:ext cx="4728240" cy="140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1390320" y="3955680"/>
            <a:ext cx="636336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18;p22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21;p23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0.png"/><Relationship Id="rId5" Type="http://schemas.openxmlformats.org/officeDocument/2006/relationships/image" Target="../media/image14.jpeg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0.png"/><Relationship Id="rId5" Type="http://schemas.openxmlformats.org/officeDocument/2006/relationships/image" Target="../media/image15.jpeg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28;p24"/>
          <p:cNvPicPr/>
          <p:nvPr/>
        </p:nvPicPr>
        <p:blipFill>
          <a:blip r:embed="rId3"/>
          <a:srcRect t="13906" r="6550" b="734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0" name="Google Shape;129;p24"/>
          <p:cNvGrpSpPr/>
          <p:nvPr/>
        </p:nvGrpSpPr>
        <p:grpSpPr>
          <a:xfrm>
            <a:off x="228600" y="228600"/>
            <a:ext cx="8672400" cy="4656960"/>
            <a:chOff x="228600" y="228600"/>
            <a:chExt cx="8672400" cy="4656960"/>
          </a:xfrm>
        </p:grpSpPr>
        <p:sp>
          <p:nvSpPr>
            <p:cNvPr id="51" name="Google Shape;130;p24"/>
            <p:cNvSpPr/>
            <p:nvPr/>
          </p:nvSpPr>
          <p:spPr>
            <a:xfrm>
              <a:off x="2050200" y="257760"/>
              <a:ext cx="6850800" cy="3777120"/>
            </a:xfrm>
            <a:prstGeom prst="roundRect">
              <a:avLst>
                <a:gd name="adj" fmla="val 7195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31;p24"/>
            <p:cNvSpPr/>
            <p:nvPr/>
          </p:nvSpPr>
          <p:spPr>
            <a:xfrm>
              <a:off x="2050200" y="4174560"/>
              <a:ext cx="6850800" cy="710640"/>
            </a:xfrm>
            <a:prstGeom prst="roundRect">
              <a:avLst>
                <a:gd name="adj" fmla="val 24504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133;p24"/>
            <p:cNvSpPr/>
            <p:nvPr/>
          </p:nvSpPr>
          <p:spPr>
            <a:xfrm>
              <a:off x="228600" y="228600"/>
              <a:ext cx="1673640" cy="4656960"/>
            </a:xfrm>
            <a:prstGeom prst="roundRect">
              <a:avLst>
                <a:gd name="adj" fmla="val 13823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190600" y="2571840"/>
            <a:ext cx="4495320" cy="14950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600" dirty="0"/>
              <a:t>CYT130 – Final Project</a:t>
            </a:r>
            <a:br>
              <a:rPr lang="en-CA" sz="1600" dirty="0"/>
            </a:br>
            <a:r>
              <a:rPr lang="en-CA" sz="1600" dirty="0"/>
              <a:t>Instructor: Prof. </a:t>
            </a:r>
            <a:r>
              <a:rPr lang="en-CA" sz="1600" dirty="0" err="1"/>
              <a:t>Ferozuddin</a:t>
            </a:r>
            <a:r>
              <a:rPr lang="en-CA" sz="1600" dirty="0"/>
              <a:t> </a:t>
            </a:r>
            <a:r>
              <a:rPr lang="en-CA" sz="1600" dirty="0" err="1"/>
              <a:t>Hyder</a:t>
            </a:r>
            <a:br>
              <a:rPr lang="en-CA" sz="1600" dirty="0"/>
            </a:br>
            <a:r>
              <a:rPr lang="en-CA" sz="1600" dirty="0"/>
              <a:t>Presented by: Khang Le &amp; Eric Brennan</a:t>
            </a:r>
            <a:br>
              <a:rPr lang="en-CA" sz="1600" dirty="0"/>
            </a:br>
            <a:r>
              <a:rPr lang="en-CA" sz="1600" dirty="0"/>
              <a:t>Date: December 2025</a:t>
            </a:r>
            <a:endParaRPr lang="fr-FR" sz="4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2190600" y="4324320"/>
            <a:ext cx="5800320" cy="4759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DVWA SQL Injection &amp;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vsftpd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2.3.4 Backdoor Exploitation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280;p31"/>
          <p:cNvPicPr/>
          <p:nvPr/>
        </p:nvPicPr>
        <p:blipFill>
          <a:blip r:embed="rId3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9" name="Google Shape;281;p31"/>
          <p:cNvGrpSpPr/>
          <p:nvPr/>
        </p:nvGrpSpPr>
        <p:grpSpPr>
          <a:xfrm>
            <a:off x="118440" y="585360"/>
            <a:ext cx="8906940" cy="4466700"/>
            <a:chOff x="118440" y="585360"/>
            <a:chExt cx="8906940" cy="4466700"/>
          </a:xfrm>
        </p:grpSpPr>
        <p:sp>
          <p:nvSpPr>
            <p:cNvPr id="60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CA" sz="2800" dirty="0"/>
              <a:t>What is SQL Injection?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64E59-29AD-4E78-9217-072FAB1BAFC0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28600" y="2709794"/>
            <a:ext cx="448392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</a:t>
            </a:r>
            <a:r>
              <a:rPr lang="en-US" altLang="en-US" sz="1800" dirty="0" err="1">
                <a:latin typeface="Arial" panose="020B0604020202020204" pitchFamily="34" charset="0"/>
              </a:rPr>
              <a:t>Injecion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application vulnerability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Occurs when user input is not sanitized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attackers to modify SQL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expose or manipulate database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280;p31"/>
          <p:cNvPicPr/>
          <p:nvPr/>
        </p:nvPicPr>
        <p:blipFill>
          <a:blip r:embed="rId3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5" name="Google Shape;281;p31"/>
          <p:cNvGrpSpPr/>
          <p:nvPr/>
        </p:nvGrpSpPr>
        <p:grpSpPr>
          <a:xfrm>
            <a:off x="118440" y="585360"/>
            <a:ext cx="8907120" cy="4466880"/>
            <a:chOff x="118440" y="585360"/>
            <a:chExt cx="8907120" cy="4466880"/>
          </a:xfrm>
        </p:grpSpPr>
        <p:sp>
          <p:nvSpPr>
            <p:cNvPr id="66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CA" sz="2800" dirty="0"/>
              <a:t>DVWA Target Overview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FF7032F-B752-430B-9FAC-65C9DD4BBBAC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28600" y="2346663"/>
            <a:ext cx="465499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Damn Vulnerable Web Application (DVWA)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Injection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Vulnerable parameter: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GET request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dvwa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/vulnerabilities/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/?id=</a:t>
            </a:r>
          </a:p>
        </p:txBody>
      </p:sp>
      <p:pic>
        <p:nvPicPr>
          <p:cNvPr id="14" name="image7.png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5242E7-8754-4D4E-BB20-5D7D34514F5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779264" y="711110"/>
            <a:ext cx="4246116" cy="37211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280;p31"/>
          <p:cNvPicPr/>
          <p:nvPr/>
        </p:nvPicPr>
        <p:blipFill>
          <a:blip r:embed="rId3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1" name="Google Shape;281;p31"/>
          <p:cNvGrpSpPr/>
          <p:nvPr/>
        </p:nvGrpSpPr>
        <p:grpSpPr>
          <a:xfrm>
            <a:off x="118440" y="600120"/>
            <a:ext cx="8907120" cy="4466880"/>
            <a:chOff x="118440" y="585360"/>
            <a:chExt cx="8907120" cy="4466880"/>
          </a:xfrm>
        </p:grpSpPr>
        <p:sp>
          <p:nvSpPr>
            <p:cNvPr id="72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dirty="0"/>
              <a:t>How the Vulnerability Was Found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CEFEDF4-CE0B-4780-93AE-C7E646225D2D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19063" y="2862967"/>
            <a:ext cx="36631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input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Entered ‘ into the id field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returned SQL error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Confirms improper input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77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CA" sz="2800" dirty="0"/>
              <a:t>SQL Injection Exploitation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AFC356F-F934-875B-15AE-4AFE96302A87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695325" y="2200728"/>
            <a:ext cx="4500591" cy="183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Pauload</a:t>
            </a:r>
            <a:r>
              <a:rPr lang="en-US" sz="1800" dirty="0"/>
              <a:t>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1' UNION SELECT user(), database() #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Result: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Database user: </a:t>
            </a:r>
            <a:r>
              <a:rPr lang="en-US" sz="1800" dirty="0" err="1"/>
              <a:t>root@localhost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Database name: </a:t>
            </a:r>
            <a:r>
              <a:rPr lang="en-US" sz="1800" dirty="0" err="1"/>
              <a:t>dvwa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800" dirty="0"/>
          </a:p>
        </p:txBody>
      </p:sp>
      <p:pic>
        <p:nvPicPr>
          <p:cNvPr id="8" name="image3.png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BD6011B0-82E0-4809-9D88-392076CA876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304969" y="2851182"/>
            <a:ext cx="4500591" cy="149961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8008-F8E4-43A0-B07D-41AF2C0F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Affected areas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687CB-DB20-47BE-ABBD-B847393B60A0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 dirty="0"/>
              <a:t>1</a:t>
            </a:r>
            <a:endParaRPr lang="en-CA" dirty="0"/>
          </a:p>
        </p:txBody>
      </p:sp>
      <p:pic>
        <p:nvPicPr>
          <p:cNvPr id="4" name="image4.png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69A31A-FED0-44E3-B1C5-A5CE93C0319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71608" y="1906020"/>
            <a:ext cx="3264408" cy="2280420"/>
          </a:xfrm>
          <a:prstGeom prst="rect">
            <a:avLst/>
          </a:prstGeom>
          <a:ln/>
        </p:spPr>
      </p:pic>
      <p:pic>
        <p:nvPicPr>
          <p:cNvPr id="5" name="image2.png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2E128B-B144-42CB-BFC8-D94C6063F58A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904048" y="1203480"/>
            <a:ext cx="5943600" cy="37719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717407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82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CA" sz="2800" dirty="0"/>
              <a:t>SQL Injection Impact &amp; Risk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C623DE-FBD9-2F16-8883-39B28C331A4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695325" y="2103777"/>
            <a:ext cx="375295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sensitive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Modify or delete database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Bypass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Rating: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impact, easy exploitation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280;p31"/>
          <p:cNvPicPr/>
          <p:nvPr/>
        </p:nvPicPr>
        <p:blipFill>
          <a:blip r:embed="rId3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7" name="Google Shape;281;p31"/>
          <p:cNvGrpSpPr/>
          <p:nvPr/>
        </p:nvGrpSpPr>
        <p:grpSpPr>
          <a:xfrm>
            <a:off x="118440" y="585360"/>
            <a:ext cx="8907120" cy="4466880"/>
            <a:chOff x="118440" y="585360"/>
            <a:chExt cx="8907120" cy="4466880"/>
          </a:xfrm>
        </p:grpSpPr>
        <p:sp>
          <p:nvSpPr>
            <p:cNvPr id="88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CA" sz="2800" dirty="0"/>
              <a:t>SQL Injection Mitigation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6C71286-D692-2692-A3A0-46E3B3427D91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28600" y="2623663"/>
            <a:ext cx="412484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prepared statements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and sanitize user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least-privilege database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Disable detailed SQL error messages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93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dirty="0"/>
              <a:t>What is </a:t>
            </a:r>
            <a:r>
              <a:rPr lang="en-US" sz="2800" dirty="0" err="1"/>
              <a:t>vsftpd</a:t>
            </a:r>
            <a:r>
              <a:rPr lang="en-US" sz="2800" dirty="0"/>
              <a:t> 2.3.4 Backdoor?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C72C90-08D7-4374-8DC5-AE3C72B795FF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695325" y="2947988"/>
            <a:ext cx="4730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Malicious backdoored FTP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unauthenticated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Spawns hidden root 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Leads to full system compromise</a:t>
            </a:r>
          </a:p>
        </p:txBody>
      </p:sp>
      <p:pic>
        <p:nvPicPr>
          <p:cNvPr id="2" name="Audio Recording Dec 12, 2025 at 14:54:26">
            <a:hlinkClick r:id="" action="ppaction://media"/>
            <a:extLst>
              <a:ext uri="{FF2B5EF4-FFF2-40B4-BE49-F238E27FC236}">
                <a16:creationId xmlns:a16="http://schemas.microsoft.com/office/drawing/2014/main" id="{BC6770D0-C4E0-E4F3-E845-BD3109FA52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213601" y="21572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0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DFF5-38D2-1126-E27D-56BA5B52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224;p28">
            <a:extLst>
              <a:ext uri="{FF2B5EF4-FFF2-40B4-BE49-F238E27FC236}">
                <a16:creationId xmlns:a16="http://schemas.microsoft.com/office/drawing/2014/main" id="{97EFD69C-774B-78FC-B258-BE165A214D06}"/>
              </a:ext>
            </a:extLst>
          </p:cNvPr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93" name="Google Shape;225;p28">
              <a:extLst>
                <a:ext uri="{FF2B5EF4-FFF2-40B4-BE49-F238E27FC236}">
                  <a16:creationId xmlns:a16="http://schemas.microsoft.com/office/drawing/2014/main" id="{9C5F4F7D-6B98-E69C-BBEE-02751921C6AB}"/>
                </a:ext>
              </a:extLst>
            </p:cNvPr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226;p28">
              <a:extLst>
                <a:ext uri="{FF2B5EF4-FFF2-40B4-BE49-F238E27FC236}">
                  <a16:creationId xmlns:a16="http://schemas.microsoft.com/office/drawing/2014/main" id="{7B969250-CB0F-217B-715C-893936A3EB8F}"/>
                </a:ext>
              </a:extLst>
            </p:cNvPr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5" name="PlaceHolder 1">
            <a:extLst>
              <a:ext uri="{FF2B5EF4-FFF2-40B4-BE49-F238E27FC236}">
                <a16:creationId xmlns:a16="http://schemas.microsoft.com/office/drawing/2014/main" id="{ECB46FBE-52D2-9C73-AD58-1599594B0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CA" sz="2800" dirty="0"/>
              <a:t>Service Discovery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F1936-DD4E-E3CE-406E-681CFF5DB821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695325" y="2564843"/>
            <a:ext cx="307200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Identificationn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-p21 &lt;target IP&gt;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</a:t>
            </a:r>
          </a:p>
          <a:p>
            <a:pPr marL="285750" lvl="0" indent="-285750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FTP service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detectedVersion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vsftpd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2.3.4</a:t>
            </a:r>
          </a:p>
        </p:txBody>
      </p:sp>
      <p:pic>
        <p:nvPicPr>
          <p:cNvPr id="9" name="image4.png" descr="A computer screen shot of a computer error&#10;&#10;AI-generated content may be incorrect.">
            <a:extLst>
              <a:ext uri="{FF2B5EF4-FFF2-40B4-BE49-F238E27FC236}">
                <a16:creationId xmlns:a16="http://schemas.microsoft.com/office/drawing/2014/main" id="{30901169-03B8-42EB-96C2-7F2416954819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3925823" y="1359598"/>
            <a:ext cx="4839189" cy="3053905"/>
          </a:xfrm>
          <a:prstGeom prst="rect">
            <a:avLst/>
          </a:prstGeom>
          <a:ln/>
        </p:spPr>
      </p:pic>
      <p:pic>
        <p:nvPicPr>
          <p:cNvPr id="2" name="Audio Recording Dec 12, 2025 at 14:55:23">
            <a:hlinkClick r:id="" action="ppaction://media"/>
            <a:extLst>
              <a:ext uri="{FF2B5EF4-FFF2-40B4-BE49-F238E27FC236}">
                <a16:creationId xmlns:a16="http://schemas.microsoft.com/office/drawing/2014/main" id="{BAF11A56-B3C1-2904-4668-79F8C99026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782676" y="296861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8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3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6649C-69E0-0F5C-1A8C-D006353DB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224;p28">
            <a:extLst>
              <a:ext uri="{FF2B5EF4-FFF2-40B4-BE49-F238E27FC236}">
                <a16:creationId xmlns:a16="http://schemas.microsoft.com/office/drawing/2014/main" id="{3FD74E44-AF65-D014-A135-F8566C9128D5}"/>
              </a:ext>
            </a:extLst>
          </p:cNvPr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93" name="Google Shape;225;p28">
              <a:extLst>
                <a:ext uri="{FF2B5EF4-FFF2-40B4-BE49-F238E27FC236}">
                  <a16:creationId xmlns:a16="http://schemas.microsoft.com/office/drawing/2014/main" id="{229E98BD-2E30-6C0D-B013-48644823822C}"/>
                </a:ext>
              </a:extLst>
            </p:cNvPr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226;p28">
              <a:extLst>
                <a:ext uri="{FF2B5EF4-FFF2-40B4-BE49-F238E27FC236}">
                  <a16:creationId xmlns:a16="http://schemas.microsoft.com/office/drawing/2014/main" id="{BEC93E36-62A1-995B-B132-87A5ADC36843}"/>
                </a:ext>
              </a:extLst>
            </p:cNvPr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5" name="PlaceHolder 1">
            <a:extLst>
              <a:ext uri="{FF2B5EF4-FFF2-40B4-BE49-F238E27FC236}">
                <a16:creationId xmlns:a16="http://schemas.microsoft.com/office/drawing/2014/main" id="{E5D273FB-D7B6-422B-62F4-7EDFA131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CA" sz="2800" dirty="0"/>
              <a:t>Triggering the Backdoor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6EE4825-1876-4194-98EE-457AEC85273E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695325" y="2380774"/>
            <a:ext cx="249722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Backdoor Activation: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FTP login attempt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Username contains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 irrelevant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2.png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595654-F67F-4D75-8A3C-F464F6A21554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4049848" y="2008822"/>
            <a:ext cx="3594536" cy="2151316"/>
          </a:xfrm>
          <a:prstGeom prst="rect">
            <a:avLst/>
          </a:prstGeom>
          <a:ln/>
        </p:spPr>
      </p:pic>
      <p:pic>
        <p:nvPicPr>
          <p:cNvPr id="2" name="Audio Recording Dec 12, 2025 at 14:56:03">
            <a:hlinkClick r:id="" action="ppaction://media"/>
            <a:extLst>
              <a:ext uri="{FF2B5EF4-FFF2-40B4-BE49-F238E27FC236}">
                <a16:creationId xmlns:a16="http://schemas.microsoft.com/office/drawing/2014/main" id="{838E94E4-B719-B63F-7356-6243269472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31584" y="196644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6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98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CA" sz="2800" dirty="0"/>
              <a:t>Gaining Root Access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F95E8-2532-1ECA-B3BE-DB6C6823B183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695325" y="2242276"/>
            <a:ext cx="330411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Connecting to Backdoor 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&lt;target IP&gt; 6200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=0(root)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E7648E-AFED-4BB4-B67F-E2B068B8F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9435" y="1684260"/>
            <a:ext cx="4635008" cy="2537728"/>
          </a:xfrm>
          <a:prstGeom prst="rect">
            <a:avLst/>
          </a:prstGeom>
        </p:spPr>
      </p:pic>
      <p:pic>
        <p:nvPicPr>
          <p:cNvPr id="2" name="Audio Recording Dec 12, 2025 at 14:56:40">
            <a:hlinkClick r:id="" action="ppaction://media"/>
            <a:extLst>
              <a:ext uri="{FF2B5EF4-FFF2-40B4-BE49-F238E27FC236}">
                <a16:creationId xmlns:a16="http://schemas.microsoft.com/office/drawing/2014/main" id="{E5CEEC25-DE34-C2D9-88A6-BDDCF8AB30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488386" y="19281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9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280;p31"/>
          <p:cNvPicPr/>
          <p:nvPr/>
        </p:nvPicPr>
        <p:blipFill>
          <a:blip r:embed="rId5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3" name="Google Shape;281;p31"/>
          <p:cNvGrpSpPr/>
          <p:nvPr/>
        </p:nvGrpSpPr>
        <p:grpSpPr>
          <a:xfrm>
            <a:off x="118440" y="585360"/>
            <a:ext cx="8907120" cy="4466880"/>
            <a:chOff x="118440" y="585360"/>
            <a:chExt cx="8907120" cy="4466880"/>
          </a:xfrm>
        </p:grpSpPr>
        <p:sp>
          <p:nvSpPr>
            <p:cNvPr id="104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CA" sz="2800" dirty="0" err="1"/>
              <a:t>vsftpd</a:t>
            </a:r>
            <a:r>
              <a:rPr lang="en-CA" sz="2800" dirty="0"/>
              <a:t> Impact &amp; Risk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0BB32EC-986E-FEA1-1111-74DA54746B0A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28600" y="2208166"/>
            <a:ext cx="267252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system compromise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Root-level access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credentials required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logging or alerts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Rating: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</a:t>
            </a:r>
          </a:p>
        </p:txBody>
      </p:sp>
      <p:pic>
        <p:nvPicPr>
          <p:cNvPr id="3" name="Audio Recording Dec 12, 2025 at 14:57:13">
            <a:hlinkClick r:id="" action="ppaction://media"/>
            <a:extLst>
              <a:ext uri="{FF2B5EF4-FFF2-40B4-BE49-F238E27FC236}">
                <a16:creationId xmlns:a16="http://schemas.microsoft.com/office/drawing/2014/main" id="{729725F2-1DA9-D78F-4038-0D3BE691A1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28761" y="11870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5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F1A64-BE0A-41BA-E206-339813779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224;p28">
            <a:extLst>
              <a:ext uri="{FF2B5EF4-FFF2-40B4-BE49-F238E27FC236}">
                <a16:creationId xmlns:a16="http://schemas.microsoft.com/office/drawing/2014/main" id="{B1AD7482-D182-8159-B666-5A3ADF84BC9E}"/>
              </a:ext>
            </a:extLst>
          </p:cNvPr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98" name="Google Shape;225;p28">
              <a:extLst>
                <a:ext uri="{FF2B5EF4-FFF2-40B4-BE49-F238E27FC236}">
                  <a16:creationId xmlns:a16="http://schemas.microsoft.com/office/drawing/2014/main" id="{7823BFD1-6316-BE25-F8A9-5029A96A70EC}"/>
                </a:ext>
              </a:extLst>
            </p:cNvPr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26;p28">
              <a:extLst>
                <a:ext uri="{FF2B5EF4-FFF2-40B4-BE49-F238E27FC236}">
                  <a16:creationId xmlns:a16="http://schemas.microsoft.com/office/drawing/2014/main" id="{4E2F1B47-5E52-B55C-B551-F6A6E50579BB}"/>
                </a:ext>
              </a:extLst>
            </p:cNvPr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0" name="PlaceHolder 1">
            <a:extLst>
              <a:ext uri="{FF2B5EF4-FFF2-40B4-BE49-F238E27FC236}">
                <a16:creationId xmlns:a16="http://schemas.microsoft.com/office/drawing/2014/main" id="{0DBF6ED7-EB31-AC01-B92E-D22D7821D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CA" sz="2800" dirty="0" err="1"/>
              <a:t>vsftpd</a:t>
            </a:r>
            <a:r>
              <a:rPr lang="en-CA" sz="2800" dirty="0"/>
              <a:t> Mitigation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7E42B-2A39-EF94-89A4-7C5EB8D49175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624304" y="2165769"/>
            <a:ext cx="3595856" cy="183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Recommendations:</a:t>
            </a:r>
          </a:p>
          <a:p>
            <a:endParaRPr lang="en-US" sz="1800" b="1" dirty="0"/>
          </a:p>
          <a:p>
            <a:r>
              <a:rPr lang="en-US" sz="1800" dirty="0"/>
              <a:t>Remove </a:t>
            </a:r>
            <a:r>
              <a:rPr lang="en-US" sz="1800" dirty="0" err="1"/>
              <a:t>vsftpd</a:t>
            </a:r>
            <a:r>
              <a:rPr lang="en-US" sz="1800" dirty="0"/>
              <a:t> 2.3.4 immediately</a:t>
            </a:r>
          </a:p>
          <a:p>
            <a:r>
              <a:rPr lang="en-US" sz="1800" dirty="0"/>
              <a:t>Disable FTP service</a:t>
            </a:r>
          </a:p>
          <a:p>
            <a:r>
              <a:rPr lang="en-US" sz="1800" dirty="0"/>
              <a:t>Use SFTP or FTPS</a:t>
            </a:r>
          </a:p>
          <a:p>
            <a:r>
              <a:rPr lang="en-US" sz="1800" dirty="0"/>
              <a:t>Restrict port 21 access</a:t>
            </a:r>
          </a:p>
          <a:p>
            <a:r>
              <a:rPr lang="en-US" sz="1800" dirty="0"/>
              <a:t>Conduct service audits</a:t>
            </a:r>
            <a:endParaRPr lang="en-CA" sz="1800" dirty="0"/>
          </a:p>
        </p:txBody>
      </p:sp>
      <p:pic>
        <p:nvPicPr>
          <p:cNvPr id="2" name="Audio Recording Dec 12, 2025 at 14:57:46">
            <a:hlinkClick r:id="" action="ppaction://media"/>
            <a:extLst>
              <a:ext uri="{FF2B5EF4-FFF2-40B4-BE49-F238E27FC236}">
                <a16:creationId xmlns:a16="http://schemas.microsoft.com/office/drawing/2014/main" id="{8599257A-BAB7-4AE2-FCDB-D593C0059E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667062" y="21572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54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280;p31"/>
          <p:cNvPicPr/>
          <p:nvPr/>
        </p:nvPicPr>
        <p:blipFill>
          <a:blip r:embed="rId5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9" name="Google Shape;281;p31"/>
          <p:cNvGrpSpPr/>
          <p:nvPr/>
        </p:nvGrpSpPr>
        <p:grpSpPr>
          <a:xfrm>
            <a:off x="118440" y="585360"/>
            <a:ext cx="8907120" cy="4466880"/>
            <a:chOff x="118440" y="585360"/>
            <a:chExt cx="8907120" cy="4466880"/>
          </a:xfrm>
        </p:grpSpPr>
        <p:sp>
          <p:nvSpPr>
            <p:cNvPr id="110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CA" sz="2800" dirty="0"/>
              <a:t>Conclusion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DE308-58BA-204F-E37A-0BA73FA6B601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28600" y="2623663"/>
            <a:ext cx="515076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Takeaways: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Injection compromises application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vsftpd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backdoor compromises the entire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Legacy services pose severe risks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Patch management is essential</a:t>
            </a:r>
          </a:p>
        </p:txBody>
      </p:sp>
      <p:pic>
        <p:nvPicPr>
          <p:cNvPr id="2" name="Audio Recording Dec 12, 2025 at 14:58:27">
            <a:hlinkClick r:id="" action="ppaction://media"/>
            <a:extLst>
              <a:ext uri="{FF2B5EF4-FFF2-40B4-BE49-F238E27FC236}">
                <a16:creationId xmlns:a16="http://schemas.microsoft.com/office/drawing/2014/main" id="{39E9F1BD-7505-2EBF-9944-F46E6AB32B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293241" y="955398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1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45D27-C2E1-8635-03B4-44B59C3EF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224;p28">
            <a:extLst>
              <a:ext uri="{FF2B5EF4-FFF2-40B4-BE49-F238E27FC236}">
                <a16:creationId xmlns:a16="http://schemas.microsoft.com/office/drawing/2014/main" id="{8E085285-0D1C-477B-AED6-9DA2F22936EF}"/>
              </a:ext>
            </a:extLst>
          </p:cNvPr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98" name="Google Shape;225;p28">
              <a:extLst>
                <a:ext uri="{FF2B5EF4-FFF2-40B4-BE49-F238E27FC236}">
                  <a16:creationId xmlns:a16="http://schemas.microsoft.com/office/drawing/2014/main" id="{CD8C40CB-C7AC-7766-F5F2-0CDBBAEC75C9}"/>
                </a:ext>
              </a:extLst>
            </p:cNvPr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26;p28">
              <a:extLst>
                <a:ext uri="{FF2B5EF4-FFF2-40B4-BE49-F238E27FC236}">
                  <a16:creationId xmlns:a16="http://schemas.microsoft.com/office/drawing/2014/main" id="{004582A5-0196-2B6D-5D31-073466DE6159}"/>
                </a:ext>
              </a:extLst>
            </p:cNvPr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0" name="PlaceHolder 1">
            <a:extLst>
              <a:ext uri="{FF2B5EF4-FFF2-40B4-BE49-F238E27FC236}">
                <a16:creationId xmlns:a16="http://schemas.microsoft.com/office/drawing/2014/main" id="{FDA6769E-3BD5-4185-2CCF-8603B06DF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CA" b="1" dirty="0"/>
              <a:t>References</a:t>
            </a:r>
            <a:br>
              <a:rPr lang="en-CA" b="1" dirty="0"/>
            </a:b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A02F1-5D2C-83A7-C6B9-C89F0B5643A9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18440" y="1734469"/>
            <a:ext cx="872437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CA" sz="1800" dirty="0"/>
              <a:t> Nmap Project. (n.d.). Nmap Network Scanning Documentation. Retrieved from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CA" sz="1800" dirty="0"/>
              <a:t>https://nmap.org/book/man.html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CA" sz="1800" dirty="0"/>
              <a:t>• Rapid7. (n.d.). Metasploit Framework User Guide. Retrieved from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CA" sz="1800" dirty="0"/>
              <a:t>https://docs.rapid7.com/metasploit/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CA" sz="1800" dirty="0"/>
              <a:t>• MITRE. (n.d.). CVE List. Retrieved from https://cve.mitre.org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CA" sz="1800" dirty="0"/>
              <a:t>• OWASP Foundation. (2015). OWASP Testing Guide v4. Retrieved from 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CA" sz="1800" dirty="0"/>
              <a:t>https://owasp.org/www-project-web-security-testing-guide/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CA" sz="1800" dirty="0"/>
              <a:t>• Seneca College. (2024). CYT130 Lecture Notes: Labs 8–11. School of Information</a:t>
            </a: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CA" sz="1800" dirty="0"/>
              <a:t> Technology Administration and Security.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1243749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C30D1-AF6D-4263-D0B3-0232913A8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224;p28">
            <a:extLst>
              <a:ext uri="{FF2B5EF4-FFF2-40B4-BE49-F238E27FC236}">
                <a16:creationId xmlns:a16="http://schemas.microsoft.com/office/drawing/2014/main" id="{30091695-E30B-A7ED-0508-B46A04E3F404}"/>
              </a:ext>
            </a:extLst>
          </p:cNvPr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98" name="Google Shape;225;p28">
              <a:extLst>
                <a:ext uri="{FF2B5EF4-FFF2-40B4-BE49-F238E27FC236}">
                  <a16:creationId xmlns:a16="http://schemas.microsoft.com/office/drawing/2014/main" id="{26ABB911-B87E-3E5F-A45F-102350838A8F}"/>
                </a:ext>
              </a:extLst>
            </p:cNvPr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26;p28">
              <a:extLst>
                <a:ext uri="{FF2B5EF4-FFF2-40B4-BE49-F238E27FC236}">
                  <a16:creationId xmlns:a16="http://schemas.microsoft.com/office/drawing/2014/main" id="{CC54A8A9-7740-397D-6056-D6E4587D83B2}"/>
                </a:ext>
              </a:extLst>
            </p:cNvPr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0" name="PlaceHolder 1">
            <a:extLst>
              <a:ext uri="{FF2B5EF4-FFF2-40B4-BE49-F238E27FC236}">
                <a16:creationId xmlns:a16="http://schemas.microsoft.com/office/drawing/2014/main" id="{755CD7B7-9502-E37C-BC31-2E3BF1D9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THANKS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462CA-6D69-FD9E-7754-CD7E498788B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45959" y="2899814"/>
            <a:ext cx="79336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CA" sz="1800" dirty="0"/>
              <a:t>Thank you, Prof. </a:t>
            </a:r>
            <a:r>
              <a:rPr lang="en-CA" sz="1800" dirty="0" err="1"/>
              <a:t>Hyder</a:t>
            </a:r>
            <a:r>
              <a:rPr lang="en-CA" sz="1800" dirty="0"/>
              <a:t> — you’ve been my favorite instructor this semester.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274766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Architecture by Slidesgo">
  <a:themeElements>
    <a:clrScheme name="Simple Light">
      <a:dk1>
        <a:srgbClr val="FFFFFF"/>
      </a:dk1>
      <a:lt1>
        <a:srgbClr val="0E0E0E"/>
      </a:lt1>
      <a:dk2>
        <a:srgbClr val="FFFFFF"/>
      </a:dk2>
      <a:lt2>
        <a:srgbClr val="222222"/>
      </a:lt2>
      <a:accent1>
        <a:srgbClr val="D9D9D9"/>
      </a:accent1>
      <a:accent2>
        <a:srgbClr val="00FFA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932</Words>
  <Application>Microsoft Macintosh PowerPoint</Application>
  <PresentationFormat>On-screen Show (16:9)</PresentationFormat>
  <Paragraphs>131</Paragraphs>
  <Slides>17</Slides>
  <Notes>14</Notes>
  <HiddenSlides>0</HiddenSlides>
  <MMClips>7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 Unicode MS</vt:lpstr>
      <vt:lpstr>Arial</vt:lpstr>
      <vt:lpstr>Calibri</vt:lpstr>
      <vt:lpstr>Funnel Sans</vt:lpstr>
      <vt:lpstr>Manrope</vt:lpstr>
      <vt:lpstr>OpenSymbol</vt:lpstr>
      <vt:lpstr>Symbol</vt:lpstr>
      <vt:lpstr>Wingdings</vt:lpstr>
      <vt:lpstr>Computer Architecture by Slidesgo</vt:lpstr>
      <vt:lpstr>Slidesgo Final Pages</vt:lpstr>
      <vt:lpstr>CYT130 – Final Project Instructor: Prof. Ferozuddin Hyder Presented by: Khang Le &amp; Eric Brennan Date: December 2025</vt:lpstr>
      <vt:lpstr>What is SQL Injection?</vt:lpstr>
      <vt:lpstr>DVWA Target Overview</vt:lpstr>
      <vt:lpstr>How the Vulnerability Was Found</vt:lpstr>
      <vt:lpstr>SQL Injection Exploitation</vt:lpstr>
      <vt:lpstr>Affected areas</vt:lpstr>
      <vt:lpstr>SQL Injection Impact &amp; Risk</vt:lpstr>
      <vt:lpstr>SQL Injection Mitigation</vt:lpstr>
      <vt:lpstr>What is vsftpd 2.3.4 Backdoor?</vt:lpstr>
      <vt:lpstr>Service Discovery</vt:lpstr>
      <vt:lpstr>Triggering the Backdoor</vt:lpstr>
      <vt:lpstr>Gaining Root Access</vt:lpstr>
      <vt:lpstr>vsftpd Impact &amp; Risk</vt:lpstr>
      <vt:lpstr>vsftpd Mitigation</vt:lpstr>
      <vt:lpstr>Conclusion</vt:lpstr>
      <vt:lpstr>References </vt:lpstr>
      <vt:lpstr>THANKS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CYT130 – Final Project Instructor: Prof. Ferozuddin Hyder Presented by: Khang Le &amp; Eric Brennan Date: December 2025</dc:title>
  <dc:creator>Khang Le</dc:creator>
  <cp:lastModifiedBy>Khang Le</cp:lastModifiedBy>
  <cp:revision>7</cp:revision>
  <dcterms:modified xsi:type="dcterms:W3CDTF">2025-12-12T20:16:50Z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2025-12-11T02:50:38Z</dcterms:created>
  <dc:creator>Unknown Creator</dc:creator>
  <dc:description/>
  <dc:language>en-US</dc:language>
  <cp:lastModifiedBy>Unknown Creator</cp:lastModifiedBy>
  <dcterms:modified xsi:type="dcterms:W3CDTF">2025-12-11T02:50:38Z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